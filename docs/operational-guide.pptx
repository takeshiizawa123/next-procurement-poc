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購買管理・出張管理</a:t>
            </a:r>
            <a:br/>
            <a:r>
              <a:t>想定運用ガイド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next-procurement-poc  |  2026-03-28  v2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システム概要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3つの役割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申請者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申請・発注・検収・証憑添付</a:t>
            </a:r>
            <a:br/>
            <a:r>
              <a:t>全件自分で発注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承認者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部門長</a:t>
            </a:r>
            <a:br/>
            <a:r>
              <a:t>DMでボタン1クリック承認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管理本部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仕訳・照合・支払</a:t>
            </a:r>
            <a:br/>
            <a:r>
              <a:t>経理処理を専任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1日の流れ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申請者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/purchase → 承認待ち → カード決済 → 検収 → 証憑PDF添付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/mystatus で自分の未対応案件を確認 / マイページで証憑UP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承認者（部門長）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Bot DM の [承認] / [差戻し] — 10秒/件 / 24時間後に自動リマインド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管理本部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09:00 日次サマリ → 証憑確認 → 仕訳登録 → 週次で突合レポート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購買パターン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パターンA: カード払い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/purchase</a:t>
            </a:r>
            <a:br/>
            <a:r>
              <a:t>申請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部門長</a:t>
            </a:r>
            <a:br/>
            <a:r>
              <a:t>承認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申請者</a:t>
            </a:r>
            <a:br/>
            <a:r>
              <a:t>カード決済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検収完了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証憑添付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OCR</a:t>
            </a:r>
            <a:br/>
            <a:r>
              <a:t>金額照合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仕訳登録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パターンB: 請求書払い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/purchase</a:t>
            </a:r>
            <a:br/>
            <a:r>
              <a:t>申請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部門長</a:t>
            </a:r>
            <a:br/>
            <a:r>
              <a:t>承認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申請者</a:t>
            </a:r>
            <a:br/>
            <a:r>
              <a:t>発注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検収完了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請求書</a:t>
            </a:r>
            <a:br/>
            <a:r>
              <a:t>提出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管理本部</a:t>
            </a:r>
            <a:br/>
            <a:r>
              <a:t>支払処理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仕訳登録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パターンC: 購入済（立替精算）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緊急時のみ: すでに購入済みの場合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申請時に証憑添付が必須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承認→発注・検収スキップ→即「証憑完了」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MF経費経由で給与精算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提出方法（全パターン共通）: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Slackスレッドにドラッグ&amp;ドロップ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マイページ（/purchase/my）からアップロード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申請チャネル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2つの申請方法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Slackモーダル（/purchase → 「Slackモーダルで入力」）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シンプルな申請向き / 7項目入力で完了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Webフォーム（/purchase → 「Webフォームで入力」）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4ステップ入力 / URL自動解析 / 承認ルートプレビュー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重複チェック・勘定科目推定（確認画面）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一括申請（複数品目）/ 下書き自動保存 / 過去申請複製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ブックマークレット（/bookmarklet で初回設定）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ECサイトの商品ページからワンクリックでフォーム起動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Amazon/モノタロウ/ASKUL/ヨドバシ/ビックカメラ対応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承認ルールと権限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承認と発注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0B981"/>
                </a:solidFill>
              </a:defRPr>
            </a:pPr>
            <a:r>
              <a:t>承認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部門長のみ</a:t>
            </a:r>
            <a:br/>
            <a:r>
              <a:t>金額に関わらず1段階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00D4FF"/>
                </a:solidFill>
              </a:defRPr>
            </a:pPr>
            <a:r>
              <a:t>発注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申請者が全件発注</a:t>
            </a:r>
            <a:br/>
            <a:r>
              <a:t>カード/請求書問わず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C4899"/>
                </a:solidFill>
              </a:defRPr>
            </a:pPr>
            <a:r>
              <a:t>経理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管理本部</a:t>
            </a:r>
            <a:br/>
            <a:r>
              <a:t>仕訳・照合・支払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ボタン権限マトリクス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00D4FF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 / 差戻し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発注完了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検収完了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取消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○（発注前のみ）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仕訳登録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○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EC4899"/>
                </a:solidFill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証憑管理</a:t>
            </a:r>
            <a:br/>
            <a:r>
              <a:t>3層アーキテクチャ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73152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94A3B8"/>
                </a:solidFill>
              </a:defRPr>
            </a:pPr>
            <a:r>
              <a:t>証憑管理の3層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8960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89607" y="2011680"/>
            <a:ext cx="2560320" cy="50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6392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EF4444"/>
                </a:solidFill>
              </a:defRPr>
            </a:pPr>
            <a:r>
              <a:t>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392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第1層: システムブロック</a:t>
            </a:r>
            <a:br/>
            <a:r>
              <a:t>証憑なし = 仕訳不可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1568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15687" y="2011680"/>
            <a:ext cx="256032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9000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F59E0B"/>
                </a:solidFill>
              </a:defRPr>
            </a:pPr>
            <a:r>
              <a:t>Remind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9000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第2層: 段階催促</a:t>
            </a:r>
            <a:br/>
            <a:r>
              <a:t>Day 0/1/3/7 自動リマインド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41767" y="2011680"/>
            <a:ext cx="2560320" cy="3200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41767" y="2011680"/>
            <a:ext cx="256032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6087" y="2560320"/>
            <a:ext cx="20116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7C3AED"/>
                </a:solidFill>
              </a:defRPr>
            </a:pPr>
            <a:r>
              <a:t>Deter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6087" y="393192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E2E8F0"/>
                </a:solidFill>
              </a:defRPr>
            </a:pPr>
            <a:r>
              <a:t>第3層: 抑止統制</a:t>
            </a:r>
            <a:br/>
            <a:r>
              <a:t>公開投稿・部門長エスカレ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段階催促タイムライン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経過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方法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効果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Day 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スレッド投稿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初回通知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Day 1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DMダイジェスト（まとめて1通）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申請者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個別リマインド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Day 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公開投稿（@メンション）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全員に可視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同僚の目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Day 7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部門長DMエスカレ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管理圧力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承認時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未提出一覧を表示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承認判断材料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統制設計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3層統制フレームワーク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事前統制（Preventive）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部門長承認 / 高額品は用途・理由必須 / 購入済は証憑必須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発見統制（Detective）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カード明細突合（週次）→ 未申請購入・承認前購入・金額不一致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OCR金額照合（証憑添付時）→ 許容差 ±500円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日次サマリ（毎朝09:00）→ 要対応/フォロー要/順調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抑止統制（Behavioral Change）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段階催促 Day 0/1/3/7 / 突合可視化 / 月次レビュー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MF連携 + 出張管理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MF連携フロー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14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MFビジネス</a:t>
            </a:r>
            <a:br/>
            <a:r>
              <a:t>カード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7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4690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MFクラウド</a:t>
            </a:r>
            <a:br/>
            <a:r>
              <a:t>経費</a:t>
            </a:r>
          </a:p>
        </p:txBody>
      </p:sp>
      <p:sp>
        <p:nvSpPr>
          <p:cNvPr id="6" name="Rectangle 5"/>
          <p:cNvSpPr/>
          <p:nvPr/>
        </p:nvSpPr>
        <p:spPr>
          <a:xfrm>
            <a:off x="45185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5566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購買台帳</a:t>
            </a:r>
            <a:br/>
            <a:r>
              <a:t>(GAS)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72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442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OCR</a:t>
            </a:r>
            <a:br/>
            <a:r>
              <a:t>金額照合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360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31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MF会計</a:t>
            </a:r>
            <a:br/>
            <a:r>
              <a:t>Plus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47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仕訳</a:t>
            </a:r>
            <a:br/>
            <a:r>
              <a:t>完了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/trip 出張申請フロー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14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/trip</a:t>
            </a:r>
            <a:br/>
            <a:r>
              <a:t>申請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7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469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#出張CH</a:t>
            </a:r>
            <a:br/>
            <a:r>
              <a:t>投稿</a:t>
            </a:r>
          </a:p>
        </p:txBody>
      </p:sp>
      <p:sp>
        <p:nvSpPr>
          <p:cNvPr id="6" name="Rectangle 5"/>
          <p:cNvSpPr/>
          <p:nvPr/>
        </p:nvSpPr>
        <p:spPr>
          <a:xfrm>
            <a:off x="45185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5566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じゃらん/</a:t>
            </a:r>
            <a:br/>
            <a:r>
              <a:t>ANA/JAL予約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72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442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MFカード</a:t>
            </a:r>
            <a:br/>
            <a:r>
              <a:t>決済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360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318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CSV取込</a:t>
            </a:r>
            <a:br/>
            <a:r>
              <a:t>(月次)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47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MF経費</a:t>
            </a:r>
            <a:br/>
            <a:r>
              <a:t>→仕訳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Web機能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マイページ + /mystatus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/mystatus（Slack）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自分の未対応案件をDMでサマリ表示 + マイページリンク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マイページ（/purchase/my）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未対応事項ダッシュボード — 発注未完了・証憑待ちを優先表示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証憑待ち案件から [証憑UP] ボタンでWeb提出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サマリカード + フィルター + Slackリンク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購買ダッシュボード（/dashboard）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ステータス分布 / 部門別 / 購入先TOP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F59E0B"/>
                </a:solidFill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カード明細照合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月次カード明細照合フロー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645920"/>
            <a:ext cx="347472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28800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CSV準備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MFビジネスカード管理画面</a:t>
            </a:r>
            <a:br/>
            <a:r>
              <a:t>から利用明細CSVを</a:t>
            </a:r>
            <a:br/>
            <a:r>
              <a:t>ダウンロード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47472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34840" y="18288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照合UIにアップロード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/admin/card-matching を開き</a:t>
            </a:r>
            <a:br/>
            <a:r>
              <a:t>月を選択してCSVを</a:t>
            </a:r>
            <a:br/>
            <a:r>
              <a:t>ドロップ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74720" cy="381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183880" y="1828800"/>
            <a:ext cx="411480" cy="41148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78308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自動照合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28600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予測テーブル照合(Phase1)</a:t>
            </a:r>
            <a:br/>
            <a:r>
              <a:t>→ スコア照合(Phase2)</a:t>
            </a:r>
            <a:br/>
            <a:r>
              <a:t>→ 4区分に振り分け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83280"/>
            <a:ext cx="347472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356616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要確認の処理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差異タグを見て</a:t>
            </a:r>
            <a:br/>
            <a:r>
              <a:t>正しい明細を選択</a:t>
            </a:r>
            <a:br/>
            <a:r>
              <a:t>→ [これに確定]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3383280"/>
            <a:ext cx="34747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34840" y="356616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未申請利用の対応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本人に確認通知</a:t>
            </a:r>
            <a:br/>
            <a:r>
              <a:t>または経費として処理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47472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34747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183880" y="3566160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3520440"/>
            <a:ext cx="2651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引落照合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80" y="402336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入出金履歴CSVと</a:t>
            </a:r>
            <a:br/>
            <a:r>
              <a:t>未払金合計を突合</a:t>
            </a:r>
            <a:br/>
            <a:r>
              <a:t>→ 差額調査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照合結果の4タブ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2320"/>
                <a:gridCol w="3322320"/>
                <a:gridCol w="332232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タブ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59E0B"/>
                          </a:solidFill>
                        </a:defRPr>
                      </a:pPr>
                      <a:r>
                        <a:t>対応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自動照合済み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申請と明細が自動マッチ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確認のみ（差額は調整仕訳済み）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要確認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候補が複数 or スコア中程度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[これに確定] で正しい明細を選択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明細なし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申請はあるが明細にない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翌月繰越 or キャンセル確認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未申請利用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明細あるが申請がない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本人に確認 or 経費処理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マッチングの仕組み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731520" cy="381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737360"/>
            <a:ext cx="9418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Phase 1: 予測マッチング（高精度）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購買承認時に card_last4 × 金額 × 予想日付 を予測テーブルに自動記録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金額完全一致 → 自動確定、5%以内 → 自動（差額調整付き）、5-10% → 要確認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Phase 2: スコアリング（フォールバック）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金額(50点) + 日付(30点) + 加盟店名(20点) = 100点満点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80点以上 → 自動確定、50-79点 → 要確認、50点未満 → 未マッチ</a:t>
            </a:r>
          </a:p>
          <a:p>
            <a:pPr>
              <a:spcAft>
                <a:spcPts val="600"/>
              </a:spcAft>
              <a:defRPr sz="1000"/>
            </a:pPr>
          </a:p>
          <a:p>
            <a:pPr>
              <a:spcAft>
                <a:spcPts val="600"/>
              </a:spcAft>
              <a:defRPr sz="2400">
                <a:solidFill>
                  <a:srgbClr val="E2E8F0"/>
                </a:solidFill>
              </a:defRPr>
            </a:pPr>
            <a:r>
              <a:t>引落照合: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MF会計Plusの未払金(請求)仕訳をカード別に集計 → CSVの引落額と突合</a:t>
            </a:r>
          </a:p>
          <a:p>
            <a:pPr lvl="1">
              <a:spcAft>
                <a:spcPts val="600"/>
              </a:spcAft>
              <a:defRPr sz="1800">
                <a:solidFill>
                  <a:srgbClr val="94A3B8"/>
                </a:solidFill>
              </a:defRPr>
            </a:pPr>
            <a:r>
              <a:t>差額がある場合: 月末繰越・返品・年会費等のガイドを表示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10B981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定期タスク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オペレーションカレンダー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554480"/>
          <a:ext cx="996696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1740"/>
                <a:gridCol w="2491740"/>
                <a:gridCol w="2491740"/>
                <a:gridCol w="2491740"/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頻度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時刻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実行者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10B981"/>
                          </a:solidFill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1A1C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09:00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Bot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日次サマリ（#purchase-ops）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10:00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Bot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証憑催促DM + 承認リマインド + 発注完了リマインド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随時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部門長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DM承認依頼の処理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日次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随時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証憑確認・仕訳待ち処理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週次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月曜 11:00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Bot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カード明細突合バッチ → Slack通知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月次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月初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カード明細照合UI → 4タブ処理 + 引落照合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月次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~15日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じゃらんCSV取込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月次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月末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管理本部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E2E8F0"/>
                          </a:solidFill>
                        </a:defRPr>
                      </a:pPr>
                      <a:r>
                        <a:t>仕訳一括・コンプライアンスレビュー</a:t>
                      </a:r>
                    </a:p>
                  </a:txBody>
                  <a:tcPr>
                    <a:solidFill>
                      <a:srgbClr val="0F0F1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0" b="1">
                <a:solidFill>
                  <a:srgbClr val="00D4FF"/>
                </a:solidFill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840480"/>
            <a:ext cx="91440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ステータス遷移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通常フロー（カード・請求書共通）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申請済</a:t>
            </a:r>
          </a:p>
        </p:txBody>
      </p:sp>
      <p:sp>
        <p:nvSpPr>
          <p:cNvPr id="4" name="Rectangle 3"/>
          <p:cNvSpPr/>
          <p:nvPr/>
        </p:nvSpPr>
        <p:spPr>
          <a:xfrm>
            <a:off x="22553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3925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承認済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41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0128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発注済</a:t>
            </a:r>
          </a:p>
        </p:txBody>
      </p:sp>
      <p:sp>
        <p:nvSpPr>
          <p:cNvPr id="8" name="Rectangle 7"/>
          <p:cNvSpPr/>
          <p:nvPr/>
        </p:nvSpPr>
        <p:spPr>
          <a:xfrm>
            <a:off x="52728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100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816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1880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証憑完了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904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7567" y="2926080"/>
            <a:ext cx="1371600" cy="1005840"/>
          </a:xfrm>
          <a:prstGeom prst="round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計上済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991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3632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支払済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64008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購入済フロー（立替）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638147" y="2926080"/>
            <a:ext cx="1371600" cy="1005840"/>
          </a:xfrm>
          <a:prstGeom prst="round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申請済</a:t>
            </a:r>
            <a:br/>
            <a:r>
              <a:t>+証憑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74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46907" y="2926080"/>
            <a:ext cx="1371600" cy="10058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承認済</a:t>
            </a:r>
          </a:p>
        </p:txBody>
      </p:sp>
      <p:sp>
        <p:nvSpPr>
          <p:cNvPr id="6" name="Rectangle 5"/>
          <p:cNvSpPr/>
          <p:nvPr/>
        </p:nvSpPr>
        <p:spPr>
          <a:xfrm>
            <a:off x="451850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5566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検収済</a:t>
            </a:r>
            <a:br/>
            <a:r>
              <a:t>（即時）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02726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64427" y="2926080"/>
            <a:ext cx="1371600" cy="10058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証憑完了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3602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7318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計上済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44787" y="3403600"/>
            <a:ext cx="137160" cy="50800"/>
          </a:xfrm>
          <a:prstGeom prst="rect">
            <a:avLst/>
          </a:prstGeom>
          <a:solidFill>
            <a:srgbClr val="334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81947" y="2926080"/>
            <a:ext cx="1371600" cy="10058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支払済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377440"/>
            <a:ext cx="109728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56032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Ready to Launch.</a:t>
            </a:r>
          </a:p>
          <a:p>
            <a:pPr>
              <a:spcBef>
                <a:spcPts val="2000"/>
              </a:spcBef>
              <a:defRPr sz="2200">
                <a:solidFill>
                  <a:srgbClr val="94A3B8"/>
                </a:solidFill>
              </a:defRPr>
            </a:pPr>
            <a:r>
              <a:t>全機能完成 → 内部テスト → 旧WFから一括移行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