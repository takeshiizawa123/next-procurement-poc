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377440"/>
            <a:ext cx="1097280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56032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FFFFFF"/>
                </a:solidFill>
              </a:defRPr>
            </a:pPr>
            <a:r>
              <a:t>購買申請システム</a:t>
            </a:r>
            <a:br/>
            <a:r>
              <a:t>利用者マニュアル</a:t>
            </a:r>
          </a:p>
          <a:p>
            <a:pPr>
              <a:spcBef>
                <a:spcPts val="2000"/>
              </a:spcBef>
              <a:defRPr sz="2200">
                <a:solidFill>
                  <a:srgbClr val="94A3B8"/>
                </a:solidFill>
              </a:defRPr>
            </a:pPr>
            <a:r>
              <a:t>Slack Bot + Webフォーム で購買申請から仕訳まで</a:t>
            </a:r>
            <a:br/>
            <a:r>
              <a:t>v1.0 — 2026-03-28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このマニュアルで使う用語（1/2）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83480"/>
                <a:gridCol w="4983480"/>
              </a:tblGrid>
              <a:tr h="4114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94A3B8"/>
                          </a:solidFill>
                        </a:defRPr>
                      </a:pPr>
                      <a:r>
                        <a:t>用語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94A3B8"/>
                          </a:solidFill>
                        </a:defRPr>
                      </a:pPr>
                      <a:r>
                        <a:t>意味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購買申請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物品やサービスを購入する前にシステムに登録して承認を得ること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証憑（しょうひょう）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購入を証明する書類。納品書・領収書・請求書など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検収（けんしゅう）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届いた物品が注文通りか確認すること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仕訳（しわけ）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会計処理。管理本部が行うので申請者は意識不要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PO番号 / PR番号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申請ごとに自動発行される管理番号（例: PR-0050）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立替精算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個人のお金で先に買い、後から会社に払い戻してもらうこと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このマニュアルで使う用語（2/2）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83480"/>
                <a:gridCol w="4983480"/>
              </a:tblGrid>
              <a:tr h="4114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94A3B8"/>
                          </a:solidFill>
                        </a:defRPr>
                      </a:pPr>
                      <a:r>
                        <a:t>用語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94A3B8"/>
                          </a:solidFill>
                        </a:defRPr>
                      </a:pPr>
                      <a:r>
                        <a:t>意味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MFバーチャルカード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MFビジネスカードで発行されるオンライン決済専用カード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MFクラウド経費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マネーフォワードの経費精算サービス。立替精算時に使用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MF会計Plus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マネーフォワードのクラウド会計ソフト（管理本部が操作）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カード明細照合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カード利用明細と購買申請を突き合わせるチェック（管理本部の月次作業）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OCR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画像から文字を読み取る技術。証憑の金額を自動チェック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OPSチャネル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管理本部向けSlackチャンネル（#purchase-ops）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全体フロー — 購買申請から経理処理まで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34747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828800"/>
            <a:ext cx="411480" cy="4114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申請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申請者</a:t>
            </a:r>
            <a:br/>
            <a:r>
              <a:t>/purchase で入力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645920"/>
            <a:ext cx="34747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34840" y="1828800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承認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部門長</a:t>
            </a:r>
            <a:br/>
            <a:r>
              <a:t>ボタン1つで承認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645920"/>
            <a:ext cx="34747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83880" y="1828800"/>
            <a:ext cx="411480" cy="4114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発注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申請者 or 管理本部</a:t>
            </a:r>
            <a:br/>
            <a:r>
              <a:t>MFカードで購入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383280"/>
            <a:ext cx="34747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356616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検収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申請者</a:t>
            </a:r>
            <a:br/>
            <a:r>
              <a:t>届いたらボタン1つ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80" y="3383280"/>
            <a:ext cx="34747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34840" y="356616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証憑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申請者</a:t>
            </a:r>
            <a:br/>
            <a:r>
              <a:t>納品書をスレッドに添付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46720" y="3383280"/>
            <a:ext cx="347472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183880" y="3566160"/>
            <a:ext cx="411480" cy="4114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仕訳・照合・引落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8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管理本部</a:t>
            </a:r>
            <a:br/>
            <a:r>
              <a:t>MF会計Plus登録</a:t>
            </a:r>
            <a:br/>
            <a:r>
              <a:t>カード明細突合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94A3B8"/>
                </a:solidFill>
              </a:defRPr>
            </a:pPr>
            <a:r>
              <a:t>3つの役割 — 誰が何をする？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89607" y="2011680"/>
            <a:ext cx="2560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89607" y="2011680"/>
            <a:ext cx="2560320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63927" y="2560320"/>
            <a:ext cx="20116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00D4FF"/>
                </a:solidFill>
              </a:defRPr>
            </a:pPr>
            <a:r>
              <a:t>申請者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3927" y="39319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E2E8F0"/>
                </a:solidFill>
              </a:defRPr>
            </a:pPr>
            <a:r>
              <a:t>①申請 → ③発注 → ④検収 → ⑤証憑</a:t>
            </a:r>
            <a:br/>
            <a:r>
              <a:t>4ステップだけ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15687" y="2011680"/>
            <a:ext cx="2560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815687" y="2011680"/>
            <a:ext cx="2560320" cy="50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90007" y="2560320"/>
            <a:ext cx="20116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7C3AED"/>
                </a:solidFill>
              </a:defRPr>
            </a:pPr>
            <a:r>
              <a:t>部門長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90007" y="39319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E2E8F0"/>
                </a:solidFill>
              </a:defRPr>
            </a:pPr>
            <a:r>
              <a:t>②承認</a:t>
            </a:r>
            <a:br/>
            <a:r>
              <a:t>ボタン1つ（10秒）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41767" y="2011680"/>
            <a:ext cx="2560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41767" y="2011680"/>
            <a:ext cx="2560320" cy="50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16087" y="2560320"/>
            <a:ext cx="20116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EC4899"/>
                </a:solidFill>
              </a:defRPr>
            </a:pPr>
            <a:r>
              <a:t>管理本部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6087" y="39319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E2E8F0"/>
                </a:solidFill>
              </a:defRPr>
            </a:pPr>
            <a:r>
              <a:t>⑥仕訳 → ⑦照合 → ⑧引落</a:t>
            </a:r>
            <a:br/>
            <a:r>
              <a:t>経理処理を一手に担当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377440"/>
            <a:ext cx="1097280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56032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FFFFFF"/>
                </a:solidFill>
              </a:defRPr>
            </a:pPr>
            <a:r>
              <a:t>Part A</a:t>
            </a:r>
            <a:br/>
            <a:r>
              <a:t>申請者ガイド</a:t>
            </a:r>
          </a:p>
          <a:p>
            <a:pPr>
              <a:spcBef>
                <a:spcPts val="2000"/>
              </a:spcBef>
              <a:defRPr sz="2200">
                <a:solidFill>
                  <a:srgbClr val="94A3B8"/>
                </a:solidFill>
              </a:defRPr>
            </a:pPr>
            <a:r>
              <a:t>①申請 → ③発注 → ④検収 → ⑤証憑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申請する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Slackモーダル or Webフォームで申請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34747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828800"/>
            <a:ext cx="411480" cy="4114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/purchase を入力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Slackの任意チャンネルで</a:t>
            </a:r>
            <a:br/>
            <a:r>
              <a:t>コマンドを送信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645920"/>
            <a:ext cx="34747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34840" y="1828800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入力方法を選択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Slackモーダル（簡易）</a:t>
            </a:r>
            <a:br/>
            <a:r>
              <a:t>or Webフォーム（高機能）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645920"/>
            <a:ext cx="34747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83880" y="1828800"/>
            <a:ext cx="411480" cy="4114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フォームに入力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品目・金額・数量・支払方法</a:t>
            </a:r>
            <a:br/>
            <a:r>
              <a:t>・購入目的を入力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383280"/>
            <a:ext cx="34747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356616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送信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#purchase-request に</a:t>
            </a:r>
            <a:br/>
            <a:r>
              <a:t>自動投稿されます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80" y="3383280"/>
            <a:ext cx="34747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34840" y="356616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承認を待つ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部門長にDMで</a:t>
            </a:r>
            <a:br/>
            <a:r>
              <a:t>承認依頼が届きます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46720" y="3383280"/>
            <a:ext cx="347472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183880" y="3566160"/>
            <a:ext cx="411480" cy="4114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番号を確認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8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PO-202603-0050 のような</a:t>
            </a:r>
            <a:br/>
            <a:r>
              <a:t>申請番号が発行されます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入力項目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1740"/>
                <a:gridCol w="2491740"/>
                <a:gridCol w="2491740"/>
                <a:gridCol w="2491740"/>
              </a:tblGrid>
              <a:tr h="4114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00D4FF"/>
                          </a:solidFill>
                        </a:defRPr>
                      </a:pPr>
                      <a:r>
                        <a:t>項目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00D4FF"/>
                          </a:solidFill>
                        </a:defRPr>
                      </a:pPr>
                      <a:r>
                        <a:t>必須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00D4FF"/>
                          </a:solidFill>
                        </a:defRPr>
                      </a:pPr>
                      <a:r>
                        <a:t>説明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00D4FF"/>
                          </a:solidFill>
                        </a:defRPr>
                      </a:pPr>
                      <a:r>
                        <a:t>入力例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申請区分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「購入前」or「購入済」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購入前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品目名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何を買うか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会議用モニター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単価（税抜）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1個の金額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45,000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数量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個数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支払方法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カード or 請求書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会社カード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購入先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店舗/サイト名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Amazon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購入目的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利用目的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業務利用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商品URL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自動で情報取得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https://...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承認後: 発注する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承認された後の操作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カード払い: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DM: 「承認されました。カードで発注してください」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MFビジネスカード（VISA）で購入 → [発注完了] ボタン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3日後に自動リマインドDM（押し忘れ防止）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請求書払い: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DM: 「承認されました。発注してください」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自分で発注 → [発注完了] ボタン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届いた請求書をSlackスレッド or マイページから提出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VISAが使えない購入先 → 請求書払いを選択</a:t>
            </a: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差戻し → DMで理由が届く → /purchase で再申請</a:t>
            </a: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取消 → [取消] ボタン（発注前のみ）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検収と証憑の提出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検収 → 証憑提出 → 完了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34747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828800"/>
            <a:ext cx="411480" cy="4114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物品の到着確認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注文通りの内容か</a:t>
            </a:r>
            <a:br/>
            <a:r>
              <a:t>確認してください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645920"/>
            <a:ext cx="34747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34840" y="1828800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[検収完了] を押す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#purchase-request の</a:t>
            </a:r>
            <a:br/>
            <a:r>
              <a:t>該当メッセージで実行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645920"/>
            <a:ext cx="34747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83880" y="1828800"/>
            <a:ext cx="411480" cy="4114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証憑を用意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カード→納品書/領収書</a:t>
            </a:r>
            <a:br/>
            <a:r>
              <a:t>請求書払い→請求書</a:t>
            </a:r>
            <a:br/>
            <a:r>
              <a:t>立替→レシート/領収書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383280"/>
            <a:ext cx="34747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356616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2つの提出方法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A: Slackスレッドに</a:t>
            </a:r>
            <a:br/>
            <a:r>
              <a:t>ドラッグ&amp;ドロップ</a:t>
            </a:r>
            <a:br/>
            <a:r>
              <a:t>B: マイページから</a:t>
            </a:r>
            <a:br/>
            <a:r>
              <a:t>アップロード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80" y="3383280"/>
            <a:ext cx="34747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34840" y="356616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Bot が自動検知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種別判定 + OCR金額照合</a:t>
            </a:r>
            <a:br/>
            <a:r>
              <a:t>→ 結果がスレッドに表示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46720" y="3383280"/>
            <a:ext cx="347472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183880" y="3566160"/>
            <a:ext cx="411480" cy="4114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完了!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8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「あなたの作業は完了です」</a:t>
            </a:r>
            <a:br/>
            <a:r>
              <a:t>経理処理は管理本部が対応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支払方法別の提出書類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2320"/>
                <a:gridCol w="3322320"/>
                <a:gridCol w="3322320"/>
              </a:tblGrid>
              <a:tr h="4114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00D4FF"/>
                          </a:solidFill>
                        </a:defRPr>
                      </a:pPr>
                      <a:r>
                        <a:t>支払方法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00D4FF"/>
                          </a:solidFill>
                        </a:defRPr>
                      </a:pPr>
                      <a:r>
                        <a:t>提出する書類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00D4FF"/>
                          </a:solidFill>
                        </a:defRPr>
                      </a:pPr>
                      <a:r>
                        <a:t>提出後の処理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カード払い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納品書 or 領収書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自動仕訳ドラフト作成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請求書払い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請求書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管理本部が支払処理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立替（購入済）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レシート or 領収書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MF経費経由で給与精算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証憑を出さないとどうなる？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証憑がないと仕訳・支払に進めません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自動リマインド: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翌日 — DMで「証憑を提出してください」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3日後 — スレッドに公開投稿（@メンション）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7日後 — 部門長にエスカレーション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次回の申請時、部門長の承認画面に「未提出一覧」が表示されます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EF4444"/>
                </a:solidFill>
              </a:defRPr>
            </a:pPr>
            <a: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購入済申請（立替精算）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立替精算の手順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/purchase → 申請区分: 「購入済」を選択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品目・金額を入力 + レシートを必ず添付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承認 → 発注・検収スキップ → 「証憑完了」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注意: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購入済は緊急時の例外措置です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原則: 事前に /purchase → 承認後にMFカードで購入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証憑なしの購入済申請は処理されません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立替精算とMF経費の関係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立替精算の経理処理はMF経費を経由します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処理フロー: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① 申請者が /purchase「購入済」で申請 + 証憑添付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② 部門長が承認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③ システムがMF経費に証憑をアップロード（自動）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④ 申請者がMF経費にログインして経費申請を提出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⑤ 管理本部がMF経費で承認 → 仕訳連携（自動）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⑥ 給与と合算して立替分を振込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MF経費での経費申請の提出は申請者が行う必要があります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MF経費のカード明細から経費登録しないでください（二重計上防止）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F59E0B"/>
                </a:solidFill>
              </a:defRPr>
            </a:pPr>
            <a: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出張申請（/trip）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出張申請フロー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34747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828800"/>
            <a:ext cx="411480" cy="4114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/trip を入力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Slackのどのチャンネル</a:t>
            </a:r>
            <a:br/>
            <a:r>
              <a:t>・DMからでも実行可能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645920"/>
            <a:ext cx="34747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34840" y="1828800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モーダルに入力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行き先・日程・目的</a:t>
            </a:r>
            <a:br/>
            <a:r>
              <a:t>交通手段・概算額・宿泊先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645920"/>
            <a:ext cx="34747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83880" y="1828800"/>
            <a:ext cx="411480" cy="4114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送信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#出張チャンネルに</a:t>
            </a:r>
            <a:br/>
            <a:r>
              <a:t>自動投稿されます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383280"/>
            <a:ext cx="34747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356616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予約・手配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各交通機関・宿泊を</a:t>
            </a:r>
            <a:br/>
            <a:r>
              <a:t>予約（次スライド参照）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80" y="3383280"/>
            <a:ext cx="34747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34840" y="356616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MFカードで決済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すべてMFビジネス</a:t>
            </a:r>
            <a:br/>
            <a:r>
              <a:t>カードで支払い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46720" y="3383280"/>
            <a:ext cx="347472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183880" y="3566160"/>
            <a:ext cx="411480" cy="4114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精算は自動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8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カード明細→MF経費</a:t>
            </a:r>
            <a:br/>
            <a:r>
              <a:t>→管理本部が仕訳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/trip 入力項目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2320"/>
                <a:gridCol w="3322320"/>
                <a:gridCol w="3322320"/>
              </a:tblGrid>
              <a:tr h="4114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59E0B"/>
                          </a:solidFill>
                        </a:defRPr>
                      </a:pPr>
                      <a:r>
                        <a:t>項目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59E0B"/>
                          </a:solidFill>
                        </a:defRPr>
                      </a:pPr>
                      <a:r>
                        <a:t>必須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59E0B"/>
                          </a:solidFill>
                        </a:defRPr>
                      </a:pPr>
                      <a:r>
                        <a:t>入力例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出張先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大阪本社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出発日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2026-04-01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帰着日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2026-04-03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出張目的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クライアント打合せ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利用交通手段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新幹線のぞみ 東京→新大阪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概算額（円）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45000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宿泊先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じゃらんで予約済み / ホテル名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交通手段別の予約・決済方法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1740"/>
                <a:gridCol w="2491740"/>
                <a:gridCol w="2491740"/>
                <a:gridCol w="2491740"/>
              </a:tblGrid>
              <a:tr h="4114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59E0B"/>
                          </a:solidFill>
                        </a:defRPr>
                      </a:pPr>
                      <a:r>
                        <a:t>手段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59E0B"/>
                          </a:solidFill>
                        </a:defRPr>
                      </a:pPr>
                      <a:r>
                        <a:t>予約方法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59E0B"/>
                          </a:solidFill>
                        </a:defRPr>
                      </a:pPr>
                      <a:r>
                        <a:t>決済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59E0B"/>
                          </a:solidFill>
                        </a:defRPr>
                      </a:pPr>
                      <a:r>
                        <a:t>備考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新幹線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スマートEX / えきねっと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MFカード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EX予約の場合はICカードで乗車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航空券（ANA）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ANA Biz（法人サイト）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MFカード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法人IDでログイン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航空券（JAL）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JAL Online（法人サイト）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MFカード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法人IDでログイン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レンタカー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各社Webサイト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MFカード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利用交通手段欄に「レンタカー」と記入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タイムズカー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タイムズカーアプリ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MFカード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法人カードを事前登録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タクシー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現地で利用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MFカード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領収書不要（カード明細で確認）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宿泊の手配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じゃらんJCS（法人向けサービス）を使用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法人専用項目1にプロジェクト番号を入力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支払は会社宛ての請求書払い（個人負担なし）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楽天トラベルRacco も今後利用可能になります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出張後の精算: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カード決済分 → MF経費に自動連携（操作不要）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宿泊費 → じゃらんCSV一括取込（管理本部が月次処理）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立替が発生した場合 → /purchase「購入済」で申請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10B981"/>
                </a:solidFill>
              </a:defRPr>
            </a:pPr>
            <a: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マイページ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マイページでできること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アクセス: https://{システムURL}/purchase/my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申請一覧の確認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自分が出した全申請のステータスを一覧表示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ステータスバッジ: 承認済 / 発注済 / 証憑待ち / 計上済 etc.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各申請からSlackスレッドへワンクリックでジャンプ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未対応アラート（黄色い帯）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証憑未提出の案件が「○件あります」と目立つ表示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経過日数が赤字で表示される（3日経過、5日経過...）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証憑アップロード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証憑待ち案件をクリック → 右パネルのドロップエリアにファイルを投入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Slackが使えない状況でもWebから証憑提出が可能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マイページ画面</a:t>
            </a:r>
          </a:p>
        </p:txBody>
      </p:sp>
      <p:pic>
        <p:nvPicPr>
          <p:cNvPr id="3" name="Picture 2" descr="my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0281" y="1097280"/>
            <a:ext cx="7571132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30936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申請一覧 + 証憑未提出アラート + 詳細パネル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10B981"/>
                </a:solidFill>
              </a:defRPr>
            </a:pPr>
            <a: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ブックマークレット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ECサイトからワンクリック申請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34747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828800"/>
            <a:ext cx="411480" cy="4114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初回設定（1回のみ）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/bookmarklet ページを開く</a:t>
            </a:r>
            <a:br/>
            <a:r>
              <a:t>→「購買申請」ボタンを</a:t>
            </a:r>
            <a:br/>
            <a:r>
              <a:t>ブックマークバーにD&amp;D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645920"/>
            <a:ext cx="34747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34840" y="1828800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商品ページを開く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Amazon・モノタロウ等で</a:t>
            </a:r>
            <a:br/>
            <a:r>
              <a:t>購入したい商品の</a:t>
            </a:r>
            <a:br/>
            <a:r>
              <a:t>ページを表示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645920"/>
            <a:ext cx="34747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83880" y="1828800"/>
            <a:ext cx="411480" cy="4114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ブックマークをクリック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ブックマークバーの</a:t>
            </a:r>
            <a:br/>
            <a:r>
              <a:t>「購買申請」を押す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383280"/>
            <a:ext cx="34747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356616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フォームが自動入力済み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商品名・価格・購入先</a:t>
            </a:r>
            <a:br/>
            <a:r>
              <a:t>・URLが入力された</a:t>
            </a:r>
            <a:br/>
            <a:r>
              <a:t>状態で開きます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80" y="3383280"/>
            <a:ext cx="34747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34840" y="356616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残りを入力して送信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支払方法・数量・目的</a:t>
            </a:r>
            <a:br/>
            <a:r>
              <a:t>を追加入力して</a:t>
            </a:r>
            <a:br/>
            <a:r>
              <a:t>申請完了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URL自動解析 対応サイト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1740"/>
                <a:gridCol w="2491740"/>
                <a:gridCol w="2491740"/>
                <a:gridCol w="2491740"/>
              </a:tblGrid>
              <a:tr h="4114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0B981"/>
                          </a:solidFill>
                        </a:defRPr>
                      </a:pPr>
                      <a:r>
                        <a:t>サイト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0B981"/>
                          </a:solidFill>
                        </a:defRPr>
                      </a:pPr>
                      <a:r>
                        <a:t>商品名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0B981"/>
                          </a:solidFill>
                        </a:defRPr>
                      </a:pPr>
                      <a:r>
                        <a:t>価格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0B981"/>
                          </a:solidFill>
                        </a:defRPr>
                      </a:pPr>
                      <a:r>
                        <a:t>備考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Amazon.co.jp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サーバーブロック時はURL文字列から商品名を推定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モノタロウ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安定して取得可能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ASKUL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安定して取得可能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ヨドバシ.com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ビックカメラ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その他サイト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ページタイトル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ブックマークレット経由のみ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377440"/>
            <a:ext cx="1097280" cy="50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56032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FFFFFF"/>
                </a:solidFill>
              </a:defRPr>
            </a:pPr>
            <a:r>
              <a:t>Part B</a:t>
            </a:r>
            <a:br/>
            <a:r>
              <a:t>承認者（部門長）ガイド</a:t>
            </a:r>
          </a:p>
          <a:p>
            <a:pPr>
              <a:spcBef>
                <a:spcPts val="2000"/>
              </a:spcBef>
              <a:defRPr sz="2200">
                <a:solidFill>
                  <a:srgbClr val="94A3B8"/>
                </a:solidFill>
              </a:defRPr>
            </a:pPr>
            <a:r>
              <a:t>②承認 — ボタン1つで完了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7C3AED"/>
                </a:solidFill>
              </a:defRPr>
            </a:pPr>
            <a: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承認する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承認者の操作ガイド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承認依頼: 部下の申請時にBot DMが届く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内容: 品目名・金額・購入先・支払方法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承認: [承認] ボタンを押すだけ（10秒）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DMからでも #purchase-request からでもOK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承認すると申請者にDMで通知 → 申請者が発注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24時間放置するとリマインドDMが届きます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差戻し: [差戻し] → 理由入力 → 送信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確認ポイント: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申請者の証憑未提出一覧が表示される場合あり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未提出が多い → 先に提出を促してから承認を推奨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承認待ちメッセージ</a:t>
            </a:r>
          </a:p>
        </p:txBody>
      </p:sp>
      <p:pic>
        <p:nvPicPr>
          <p:cNvPr id="3" name="Picture 2" descr="slack-pe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4247" y="1097280"/>
            <a:ext cx="78232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30936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#purchase-request に投稿される申請メッセージ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承認後の表示</a:t>
            </a:r>
          </a:p>
        </p:txBody>
      </p:sp>
      <p:pic>
        <p:nvPicPr>
          <p:cNvPr id="3" name="Picture 2" descr="slack-approv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4247" y="1097280"/>
            <a:ext cx="78232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30936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承認すると [発注完了] [検収完了] ボタンに切り替わる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差戻し後の表示</a:t>
            </a:r>
          </a:p>
        </p:txBody>
      </p:sp>
      <p:pic>
        <p:nvPicPr>
          <p:cNvPr id="3" name="Picture 2" descr="slack-reje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4247" y="1097280"/>
            <a:ext cx="78232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30936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差戻し理由が表示される。申請者にDMで通知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377440"/>
            <a:ext cx="1097280" cy="50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56032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FFFFFF"/>
                </a:solidFill>
              </a:defRPr>
            </a:pPr>
            <a:r>
              <a:t>Part C</a:t>
            </a:r>
            <a:br/>
            <a:r>
              <a:t>管理本部ガイド</a:t>
            </a:r>
          </a:p>
          <a:p>
            <a:pPr>
              <a:spcBef>
                <a:spcPts val="2000"/>
              </a:spcBef>
              <a:defRPr sz="2200">
                <a:solidFill>
                  <a:srgbClr val="94A3B8"/>
                </a:solidFill>
              </a:defRPr>
            </a:pPr>
            <a:r>
              <a:t>⑥仕訳 → ⑦照合 → ⑧引落 + 発注代行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EC4899"/>
                </a:solidFill>
              </a:defRPr>
            </a:pPr>
            <a: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日常業務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管理本部の日常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毎朝 09:00: #purchase-ops 日次サマリ確認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🔴要対応（証憑待ち・仕訳待ち）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🟡フォロー要（3日以上停滞の証憑待ち）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🟢順調（進行中・完了件数）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証憑・請求書の受付: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申請者が提出した証憑を確認（自動検知→OCR照合済み）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請求書払い → 請求書を確認して支払処理（銀行振込等）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仕訳登録: 証憑完了案件を MF会計Plus に登録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[仕訳登録] で自動ドラフト作成 → 借方:費用科目 / 貸方:未払金 or 買掛金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管理ダッシュボード</a:t>
            </a:r>
          </a:p>
        </p:txBody>
      </p:sp>
      <p:pic>
        <p:nvPicPr>
          <p:cNvPr id="3" name="Picture 2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4247" y="1097280"/>
            <a:ext cx="78232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30936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/dashboard — ステータス分布・部門別・購入先TOP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F59E0B"/>
                </a:solidFill>
              </a:defRPr>
            </a:pPr>
            <a: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カード明細照合（月次）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月次照合フロー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34747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828800"/>
            <a:ext cx="411480" cy="4114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CSVダウンロード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MFビジネスカード管理画面</a:t>
            </a:r>
            <a:br/>
            <a:r>
              <a:t>から利用明細CSVを取得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645920"/>
            <a:ext cx="34747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34840" y="1828800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照合UIにアップロード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/admin/card-matching</a:t>
            </a:r>
            <a:br/>
            <a:r>
              <a:t>CSVをドロップ → 自動照合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645920"/>
            <a:ext cx="34747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83880" y="1828800"/>
            <a:ext cx="411480" cy="4114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4タブを処理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自動照合済 / 要確認</a:t>
            </a:r>
            <a:br/>
            <a:r>
              <a:t>/ 明細なし / 未申請利用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383280"/>
            <a:ext cx="34747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356616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引落照合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入出金履歴CSVと</a:t>
            </a:r>
            <a:br/>
            <a:r>
              <a:t>未払金合計を突合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80" y="3383280"/>
            <a:ext cx="34747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34840" y="356616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完了通知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全件処理後</a:t>
            </a:r>
            <a:br/>
            <a:r>
              <a:t>Slackに完了通知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自動照合済みタブ</a:t>
            </a:r>
          </a:p>
        </p:txBody>
      </p:sp>
      <p:pic>
        <p:nvPicPr>
          <p:cNvPr id="3" name="Picture 2" descr="matching-confirm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4247" y="1097280"/>
            <a:ext cx="78232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30936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差額ありは黄色で強調。差額なしは灰色で一覧表示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要確認タブ</a:t>
            </a:r>
          </a:p>
        </p:txBody>
      </p:sp>
      <p:pic>
        <p:nvPicPr>
          <p:cNvPr id="3" name="Picture 2" descr="matching-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4247" y="1097280"/>
            <a:ext cx="78232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30936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差異タグ（日付/金額/取引先名）を見て [これに確定] で選択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未申請利用タブ</a:t>
            </a:r>
          </a:p>
        </p:txBody>
      </p:sp>
      <p:pic>
        <p:nvPicPr>
          <p:cNvPr id="3" name="Picture 2" descr="matching-unrepo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4247" y="1097280"/>
            <a:ext cx="78232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30936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[本人に確認] でSlack通知 or [経費で処理]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照合結果の4タブ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2320"/>
                <a:gridCol w="3322320"/>
                <a:gridCol w="3322320"/>
              </a:tblGrid>
              <a:tr h="4114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59E0B"/>
                          </a:solidFill>
                        </a:defRPr>
                      </a:pPr>
                      <a:r>
                        <a:t>タブ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59E0B"/>
                          </a:solidFill>
                        </a:defRPr>
                      </a:pPr>
                      <a:r>
                        <a:t>内容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59E0B"/>
                          </a:solidFill>
                        </a:defRPr>
                      </a:pPr>
                      <a:r>
                        <a:t>対応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自動照合済み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申請と明細が自動マッチ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確認のみ（差額は調整仕訳済み）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要確認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候補が複数 or スコア中程度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[これに確定] で正しい明細を選択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明細なし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申請はあるが明細にない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翌月繰越 or キャンセル確認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未申請利用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明細あるが申請がない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本人に確認 or 経費処理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マッチングの仕組み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Phase 1: 予測マッチング — 承認時にcard_last4×金額×日付を自動記録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金額完全一致 → 自動確定、5%以内 → 差額調整、5-10% → 要確認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Phase 2: スコアリング — MF仕訳と明細を突合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金額(50点) + 日付(30点) + 加盟店名(20点) = 100点満点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引落照合: 未払金(請求)合計 vs 銀行引落額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差額 → 月末繰越/返品/年会費等のガイド表示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月次作業カレンダー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2320"/>
                <a:gridCol w="3322320"/>
                <a:gridCol w="3322320"/>
              </a:tblGrid>
              <a:tr h="4114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EC4899"/>
                          </a:solidFill>
                        </a:defRPr>
                      </a:pPr>
                      <a:r>
                        <a:t>作業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EC4899"/>
                          </a:solidFill>
                        </a:defRPr>
                      </a:pPr>
                      <a:r>
                        <a:t>内容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EC4899"/>
                          </a:solidFill>
                        </a:defRPr>
                      </a:pPr>
                      <a:r>
                        <a:t>所要時間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カード明細照合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照合UI 4タブ処理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30-60分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引落照合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引落照合タブで未払金突合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15分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じゃらんCSV取込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管理画面からCSV → アップロード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15分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仕訳一括処理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未処理の仕訳待ちを一括登録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30分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コンプライアンスレビュー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未申請/承認前購入の件数確認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15分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377440"/>
            <a:ext cx="1097280" cy="50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56032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FFFFFF"/>
                </a:solidFill>
              </a:defRPr>
            </a:pPr>
            <a:r>
              <a:t>FAQ &amp;</a:t>
            </a:r>
            <a:br/>
            <a:r>
              <a:t>操作早見表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よくある質問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83480"/>
                <a:gridCol w="4983480"/>
              </a:tblGrid>
              <a:tr h="4114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0B981"/>
                          </a:solidFill>
                        </a:defRPr>
                      </a:pPr>
                      <a:r>
                        <a:t>質問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0B981"/>
                          </a:solidFill>
                        </a:defRPr>
                      </a:pPr>
                      <a:r>
                        <a:t>回答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申請を間違えた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[取消] → 再申請（発注後は管理本部に連絡）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証憑を紛失した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管理本部に相談（カード明細スクショで代替可）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承認が来ない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部門長にSlackで確認（24時間後に自動リマインド）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金額に関係なく自分で発注？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はい。部門長承認後は全件申請者が発注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カード明細照合って何？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管理本部の月次作業。一般社員は意識不要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未申請利用の連絡が来た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/purchase で事後申請を出してください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操作早見表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2320"/>
                <a:gridCol w="3322320"/>
                <a:gridCol w="3322320"/>
              </a:tblGrid>
              <a:tr h="4114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00D4FF"/>
                          </a:solidFill>
                        </a:defRPr>
                      </a:pPr>
                      <a:r>
                        <a:t>やりたいこと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00D4FF"/>
                          </a:solidFill>
                        </a:defRPr>
                      </a:pPr>
                      <a:r>
                        <a:t>操作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00D4FF"/>
                          </a:solidFill>
                        </a:defRPr>
                      </a:pPr>
                      <a:r>
                        <a:t>対象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購買申請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/purchase → モーダル or Webフォーム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申請者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出張申請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/trip → モーダル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申請者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自分の状況確認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/purchase/my（マイページ）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申請者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承認する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DM or #purchase-request の [承認]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部門長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発注完了を報告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[発注完了] ボタン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申請者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検収完了を報告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[検収完了] ボタン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申請者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証憑を提出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スレッドにD&amp;D or マイページ [証憑UP]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申請者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カード明細を照合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/admin/card-matching → CSV読込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管理本部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引落額を照合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/admin/card-matching → 引落照合タブ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管理本部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377440"/>
            <a:ext cx="1097280" cy="50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56032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FFFFFF"/>
                </a:solidFill>
              </a:defRPr>
            </a:pPr>
            <a:r>
              <a:t>ご不明点は</a:t>
            </a:r>
            <a:br/>
            <a:r>
              <a:t>管理本部まで</a:t>
            </a:r>
          </a:p>
          <a:p>
            <a:pPr>
              <a:spcBef>
                <a:spcPts val="2000"/>
              </a:spcBef>
              <a:defRPr sz="2200">
                <a:solidFill>
                  <a:srgbClr val="94A3B8"/>
                </a:solidFill>
              </a:defRPr>
            </a:pPr>
            <a:r>
              <a:t>#purchase-ops チャンネル または DM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