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377440"/>
            <a:ext cx="109728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購買申請システム</a:t>
            </a:r>
            <a:br/>
            <a:r>
              <a:t>利用者マニュアル</a:t>
            </a:r>
          </a:p>
          <a:p>
            <a:pPr>
              <a:spcBef>
                <a:spcPts val="2000"/>
              </a:spcBef>
              <a:defRPr sz="2200">
                <a:solidFill>
                  <a:srgbClr val="94A3B8"/>
                </a:solidFill>
              </a:defRPr>
            </a:pPr>
            <a:r>
              <a:t>Slack Bot + Webフォーム で購買申請から仕訳まで</a:t>
            </a:r>
            <a:br/>
            <a:r>
              <a:t>v0.3 — 2026-03-28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全体フロー — 8ステップ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34747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828800"/>
            <a:ext cx="411480" cy="411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申請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/purchase で入力</a:t>
            </a:r>
            <a:br/>
            <a:r>
              <a:t>（2-3分）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34747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34840" y="18288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承認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860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部門長がボタン1つ</a:t>
            </a:r>
            <a:br/>
            <a:r>
              <a:t>（10秒）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47472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83880" y="1828800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発注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2860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MFカードで購入</a:t>
            </a:r>
            <a:br/>
            <a:r>
              <a:t>（申請者 or 管理本部）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8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83280"/>
            <a:ext cx="34747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56616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520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検収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233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届いたら</a:t>
            </a:r>
            <a:br/>
            <a:r>
              <a:t>ボタン1つ（10秒）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38328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383280"/>
            <a:ext cx="34747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4840" y="356616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520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証憑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0233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納品書をスレッドに</a:t>
            </a:r>
            <a:br/>
            <a:r>
              <a:t>添付（30秒）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38328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3383280"/>
            <a:ext cx="347472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83880" y="3566160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3520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仕訳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40233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MF会計Plusに</a:t>
            </a:r>
            <a:br/>
            <a:r>
              <a:t>自動登録（管理本部）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12064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5120640"/>
            <a:ext cx="34747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5800" y="5303520"/>
            <a:ext cx="411480" cy="411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525780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照合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76072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カード明細と</a:t>
            </a:r>
            <a:br/>
            <a:r>
              <a:t>突合（月次・管理本部）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512064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97680" y="5120640"/>
            <a:ext cx="34747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434840" y="53035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525780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引落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576072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銀行引落と</a:t>
            </a:r>
            <a:br/>
            <a:r>
              <a:t>突合（月次・管理本部）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94A3B8"/>
                </a:solidFill>
              </a:defRPr>
            </a:pPr>
            <a:r>
              <a:t>あなたがやること（申請者）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89607" y="2011680"/>
            <a:ext cx="25603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89607" y="2011680"/>
            <a:ext cx="256032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3927" y="2560320"/>
            <a:ext cx="2011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D4FF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3927" y="39319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</a:defRPr>
            </a:pPr>
            <a:r>
              <a:t>ステップ</a:t>
            </a:r>
            <a:br/>
            <a:r>
              <a:t>①申請→③発注→④検収→⑤証憑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15687" y="2011680"/>
            <a:ext cx="25603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15687" y="2011680"/>
            <a:ext cx="256032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90007" y="2560320"/>
            <a:ext cx="2011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0B981"/>
                </a:solidFill>
              </a:defRPr>
            </a:pPr>
            <a:r>
              <a:t>30秒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0007" y="39319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</a:defRPr>
            </a:pPr>
            <a:r>
              <a:t>検収・証憑</a:t>
            </a:r>
            <a:br/>
            <a:r>
              <a:t>ボタン＋ファイル添付だけ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41767" y="2011680"/>
            <a:ext cx="25603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41767" y="2011680"/>
            <a:ext cx="256032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6087" y="2560320"/>
            <a:ext cx="2011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7C3AED"/>
                </a:solidFill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6087" y="39319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2E8F0"/>
                </a:solidFill>
              </a:defRPr>
            </a:pPr>
            <a:r>
              <a:t>経理処理</a:t>
            </a:r>
            <a:br/>
            <a:r>
              <a:t>②承認は部門長、⑥⑦⑧は管理本部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このマニュアルで使う用語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554480"/>
          <a:ext cx="99669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3480"/>
                <a:gridCol w="498348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94A3B8"/>
                          </a:solidFill>
                        </a:defRPr>
                      </a:pPr>
                      <a:r>
                        <a:t>用語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94A3B8"/>
                          </a:solidFill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証憑（しょうひょう）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購入を証明する書類。納品書・領収書・請求書など、いわゆる「レシート」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検収（けんしゅう）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届いた物品が注文通りか確認すること。「届きました」の報告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仕訳（しわけ）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会計処理のこと。管理本部が行うので申請者は意識不要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PO番号 / PR番号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申請ごとに自動発行される管理番号（例: PR-0050）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MFバーチャルカード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MFビジネスカードのオンライン決済用カード番号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購買申請の出し方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Slackモーダルで申請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34747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828800"/>
            <a:ext cx="411480" cy="411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/purchase を入力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Slackの任意チャンネルで</a:t>
            </a:r>
            <a:br/>
            <a:r>
              <a:t>コマンドを送信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34747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34840" y="18288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入力方法を選択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860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Slackモーダル（簡易）</a:t>
            </a:r>
            <a:br/>
            <a:r>
              <a:t>or Webフォーム（高機能）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47472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83880" y="1828800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フォームに入力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2860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品目・金額・数量・支払方法</a:t>
            </a:r>
            <a:br/>
            <a:r>
              <a:t>・購入目的を入力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8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83280"/>
            <a:ext cx="34747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56616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520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送信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233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#purchase-request に</a:t>
            </a:r>
            <a:br/>
            <a:r>
              <a:t>自動投稿されます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38328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383280"/>
            <a:ext cx="34747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4840" y="356616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520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承認を待つ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0233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部門長にDMで</a:t>
            </a:r>
            <a:br/>
            <a:r>
              <a:t>承認依頼が届きます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38328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3383280"/>
            <a:ext cx="347472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83880" y="3566160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3520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番号を確認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40233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PR-0050 のような</a:t>
            </a:r>
            <a:br/>
            <a:r>
              <a:t>申請番号が発行されます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入力項目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554480"/>
          <a:ext cx="996696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740"/>
                <a:gridCol w="2491740"/>
                <a:gridCol w="2491740"/>
                <a:gridCol w="249174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D4FF"/>
                          </a:solidFill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D4FF"/>
                          </a:solidFill>
                        </a:defRPr>
                      </a:pPr>
                      <a:r>
                        <a:t>必須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D4FF"/>
                          </a:solidFill>
                        </a:defRPr>
                      </a:pPr>
                      <a:r>
                        <a:t>説明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D4FF"/>
                          </a:solidFill>
                        </a:defRPr>
                      </a:pPr>
                      <a:r>
                        <a:t>入力例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申請区分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「購入前」or「購入済」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購入前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品目名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何を買うか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会議用モニター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単価（税抜）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1個の金額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45,000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数量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個数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支払方法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カード or 請求書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会社カード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購入先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店舗/サイト名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Amazon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購入目的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利用目的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業務利用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商品URL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自動で情報取得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https://...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Webフォームの機能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Webフォーム: 4ステップ入力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34747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828800"/>
            <a:ext cx="411480" cy="411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申請区分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「購入前」or「購入済」</a:t>
            </a:r>
            <a:br/>
            <a:r>
              <a:t>購入済は証憑添付が必須に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34747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34840" y="18288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商品情報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860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品目・金額・購入先</a:t>
            </a:r>
            <a:br/>
            <a:r>
              <a:t>URL貼付で自動取得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47472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83880" y="1828800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詳細情報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2860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条件分岐で項目が変化</a:t>
            </a:r>
            <a:br/>
            <a:r>
              <a:t>承認ルートをプレビュー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8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83280"/>
            <a:ext cx="34747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56616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520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確認画面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233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重複チェック + 勘定科目推定</a:t>
            </a:r>
            <a:br/>
            <a:r>
              <a:t>送信前に最終確認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入力支援機能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商品URL自動解析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URLを貼ると商品名・価格を自動取得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対応: Amazon / モノタロウ / ASKUL / ヨドバシ / ビックカメラ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Amazon がブロックした場合はURL文字列から商品名を推定（金額は手動）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購入先サジェスト — 過去の購入先から候補表示</a:t>
            </a: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金額カンマ整形 — 離れると 45,000 に自動整形 + 合計リアルタイム計算</a:t>
            </a: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条件分岐 — 区分・支払方法で項目が動的変化</a:t>
            </a: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承認ルートプレビュー — 金額に応じた承認フローをリアルタイム表示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高度な機能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7315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一括申請（複数品目）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「品目を追加」ボタンで追加品目を入力 / 合計金額を自動計算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確認画面: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重複チェック — 類似申請がある場合に警告表示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勘定科目推定 — 品目名から推定科目を自動表示（確度: 高/中/低）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その他: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下書き自動保存（0.5秒ごと / ブラウザ再訪問で復元）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過去申請ワンクリック複製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カメラ撮影対応（モバイル — 証憑を直接撮影）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KATANA POサジェスト（在庫管理連携）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EC4899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ブックマークレット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ECサイトからワンクリック申請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34747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828800"/>
            <a:ext cx="411480" cy="411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初回設定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/bookmarklet ページから</a:t>
            </a:r>
            <a:br/>
            <a:r>
              <a:t>ボタンをブックマークバーに</a:t>
            </a:r>
            <a:br/>
            <a:r>
              <a:t>ドラッグ&amp;ドロップ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34747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34840" y="18288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商品ページを開く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860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Amazon等で購入したい</a:t>
            </a:r>
            <a:br/>
            <a:r>
              <a:t>商品のページを表示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47472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83880" y="1828800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ブックマークをクリック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2860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ブックマークバーの</a:t>
            </a:r>
            <a:br/>
            <a:r>
              <a:t>「購買申請」を押す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8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83280"/>
            <a:ext cx="34747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56616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520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フォーム自動入力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233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商品名・価格・購入先・URL</a:t>
            </a:r>
            <a:br/>
            <a:r>
              <a:t>が入力済みで開きます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38328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383280"/>
            <a:ext cx="34747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4840" y="356616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520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残りを入力して送信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0233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支払方法・数量等を</a:t>
            </a:r>
            <a:br/>
            <a:r>
              <a:t>追加して申請完了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URL解析 対応サイト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554480"/>
          <a:ext cx="99669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740"/>
                <a:gridCol w="2491740"/>
                <a:gridCol w="2491740"/>
                <a:gridCol w="249174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C4899"/>
                          </a:solidFill>
                        </a:defRPr>
                      </a:pPr>
                      <a:r>
                        <a:t>サイト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C4899"/>
                          </a:solidFill>
                        </a:defRPr>
                      </a:pPr>
                      <a:r>
                        <a:t>商品名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C4899"/>
                          </a:solidFill>
                        </a:defRPr>
                      </a:pPr>
                      <a:r>
                        <a:t>価格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C4899"/>
                          </a:solidFill>
                        </a:defRPr>
                      </a:pPr>
                      <a:r>
                        <a:t>備考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Amazon.co.jp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ブロック時はURL文字列から商品名を推定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モノタロウ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安定して取得可能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ASKUL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安定して取得可能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ヨドバシ.com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ビックカメラ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その他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タイトル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ブックマークレットの場合のみ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D4FF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承認後の操作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承認された場合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7315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会社カード + 10万円未満（自分で発注）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DM: 「承認されました。発注してください」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MFバーチャルカードで購入 → [発注完了] ボタン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3日後に自動リマインドDMが届きます（押し忘れ防止）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会社カード + 10万円以上 / 請求書払い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管理本部が代行 — あなたの操作は不要です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差戻しの場合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DMで理由が届く → /purchase で再申請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取消: [取消] ボタン（発注前のみ）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00D4FF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検収と証憑の提出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検収 → 証憑提出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34747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828800"/>
            <a:ext cx="411480" cy="411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物品の到着確認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注文通りの内容か</a:t>
            </a:r>
            <a:br/>
            <a:r>
              <a:t>確認してください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34747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34840" y="18288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[検収完了] を押す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860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#purchase-request の</a:t>
            </a:r>
            <a:br/>
            <a:r>
              <a:t>該当メッセージで実行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47472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83880" y="1828800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証憑を用意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2860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納品書 or 領収書の</a:t>
            </a:r>
            <a:br/>
            <a:r>
              <a:t>PDF / 写真を準備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8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83280"/>
            <a:ext cx="34747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56616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520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スレッドに添付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233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該当申請のスレッドに</a:t>
            </a:r>
            <a:br/>
            <a:r>
              <a:t>ドラッグ&amp;ドロップ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38328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383280"/>
            <a:ext cx="34747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4840" y="356616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520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Bot が自動検知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0233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種別判定 + OCR金額照合</a:t>
            </a:r>
            <a:br/>
            <a:r>
              <a:t>→ 結果がスレッドに表示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38328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3383280"/>
            <a:ext cx="347472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83880" y="3566160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3520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完了!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40233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「あなたの作業は完了です」</a:t>
            </a:r>
            <a:br/>
            <a:r>
              <a:t>経理処理は管理本部が対応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証憑を出さないとどうなる？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7315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証憑がないと仕訳・支払に進めません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自動リマインド: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翌日 — DMで「証憑を提出してください」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3日後 — スレッドに公開投稿（@メンション — 周りにも見えます）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7日後 — 部門長にエスカレーション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次回の申請時、部門長の承認画面に「未提出一覧」が表示されます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Webからも提出可能: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マイページ (/purchase/my) の [証憑UP] ボタンから直接アップロード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EF4444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購入済申請（立替）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立替精算の手順と注意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73152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/purchase → 申請区分: 「購入済」を選択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品目・金額を入力 + レシートを必ず添付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承認 → 発注・検収スキップ → 「証憑待ち」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注意: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購入済は緊急時の例外措置です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原則: 事前に /purchase → MFカードで購入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証憑なしの購入済申請は処理されません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7C3AED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承認者（部門長）向け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承認者の操作ガイド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7315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承認依頼: 部下の申請時にBot DMが届く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内容: 品目名・金額・購入先・支払方法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承認: [承認] ボタンを押すだけ（10秒）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DMからでも #purchase-request からでもOK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10万以上は → 管理本部の二段階目に自動回付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24時間放置するとリマインドDMが届きます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差戻し: [差戻し] → 理由入力 → 送信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確認ポイント: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申請者の証憑未提出一覧が表示される場合あり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未提出が多い → 先に提出を促してから承認を推奨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EC4899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管理本部向け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管理本部の日常業務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73152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毎朝 09:00: #purchase-ops 日次サマリ確認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🔴要対応 / 🟡フォロー要 / 🟢順調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発注処理: [開く] → 発注 → [発注完了]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対象: 10万以上 + 請求書払いのみ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仕訳登録: 証憑完了案件を MF会計Plus に登録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[仕訳登録] で自動ドラフト作成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週次: カード明細突合レポート（月曜 11:00）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未申請購入・承認前購入・金額不一致を自動検知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月次: カード明細照合UI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34747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828800"/>
            <a:ext cx="411480" cy="411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CSVダウンロード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MFビジネスカード管理画面</a:t>
            </a:r>
            <a:br/>
            <a:r>
              <a:t>から利用明細CSVを取得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34747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34840" y="18288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照合UIにアップロード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860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/admin/card-matching</a:t>
            </a:r>
            <a:br/>
            <a:r>
              <a:t>CSVをドロップ → 自動照合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47472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83880" y="1828800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4タブを処理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2860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自動照合済 / 要確認</a:t>
            </a:r>
            <a:br/>
            <a:r>
              <a:t>/ 明細なし / 未申請利用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8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83280"/>
            <a:ext cx="34747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56616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520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引落照合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233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入出金履歴CSVと</a:t>
            </a:r>
            <a:br/>
            <a:r>
              <a:t>未払金合計を突合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38328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383280"/>
            <a:ext cx="34747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4840" y="356616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520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完了通知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0233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全件処理後</a:t>
            </a:r>
            <a:br/>
            <a:r>
              <a:t>Slackに完了通知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照合結果の4タブ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554480"/>
          <a:ext cx="99669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2320"/>
                <a:gridCol w="3322320"/>
                <a:gridCol w="332232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C4899"/>
                          </a:solidFill>
                        </a:defRPr>
                      </a:pPr>
                      <a:r>
                        <a:t>タブ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C4899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C4899"/>
                          </a:solidFill>
                        </a:defRPr>
                      </a:pPr>
                      <a:r>
                        <a:t>対応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自動照合済み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申請と明細が自動マッチ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確認のみ（差額は調整仕訳済み）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要確認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候補が複数 or スコア中程度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[これに確定] で正しい明細を選択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明細なし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申請はあるが明細にない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翌月繰越 or キャンセル確認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未申請利用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明細あるが申請がない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本人に確認 or 経費処理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月次作業まとめ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73152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カード明細照合 — 照合UI 4タブ処理（30-60分）</a:t>
            </a: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引落照合 — 引落照合タブで未払金突合（15分）</a:t>
            </a: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じゃらんCSV取込（15分）</a:t>
            </a: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仕訳一括処理（30分）</a:t>
            </a: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コンプライアンスレビュー（15分）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10B981"/>
                </a:solidFill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マイページと /mystatus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自分の申請状況を確認する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7315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/mystatus コマンド（Slack）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Slackで /mystatus → 自分の未対応案件をDMでサマリ表示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各案件に「次にやること」が表示される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マイページへのリンクも含まれる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マイページ（Web: /purchase/my）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ページ上部に未対応事項ダッシュボード（黄色いアラート）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発注未完了・証憑待ちは赤背景で優先表示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証憑待ち案件は [証憑UP] ボタンからWeb上で直接提出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フィルター: すべて / 進行中 / 完了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各申請からSlackスレッドへジャンプ可能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59E0B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出張申請（/trip）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出張申請フロー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347472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828800"/>
            <a:ext cx="411480" cy="411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/trip を入力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Slackで</a:t>
            </a:r>
            <a:br/>
            <a:r>
              <a:t>コマンド送信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645920"/>
            <a:ext cx="347472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34840" y="18288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モーダルに入力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860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行き先・日程・目的</a:t>
            </a:r>
            <a:br/>
            <a:r>
              <a:t>交通手段・概算額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474720" cy="381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83880" y="1828800"/>
            <a:ext cx="411480" cy="4114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送信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28600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#出張チャンネルに</a:t>
            </a:r>
            <a:br/>
            <a:r>
              <a:t>自動投稿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8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83280"/>
            <a:ext cx="347472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56616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520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予約する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233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じゃらん / ANA Biz</a:t>
            </a:r>
            <a:br/>
            <a:r>
              <a:t>/ JAL Online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38328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3383280"/>
            <a:ext cx="34747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4840" y="356616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520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MFカードで決済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0233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交通費・食事代も</a:t>
            </a:r>
            <a:br/>
            <a:r>
              <a:t>カードで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38328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3383280"/>
            <a:ext cx="347472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83880" y="3566160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35204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精算は自動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40233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MF経費→管理本部</a:t>
            </a:r>
            <a:br/>
            <a:r>
              <a:t>が仕訳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宿泊・交通の手配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7315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宿泊: じゃらんJCS（先行）/ 楽天Racco（後追い）</a:t>
            </a:r>
          </a:p>
          <a:p>
            <a:pPr lvl="1">
              <a:spcAft>
                <a:spcPts val="400"/>
              </a:spcAft>
              <a:defRPr sz="1500">
                <a:solidFill>
                  <a:srgbClr val="94A3B8"/>
                </a:solidFill>
              </a:defRPr>
            </a:pPr>
            <a:r>
              <a:t>法人専用項目にプロジェクト番号を入力 / 会社宛て請求書払い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航空券: ANA Biz / JAL Online で法人予約</a:t>
            </a: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新幹線: スマートEX → MFカード決済</a:t>
            </a: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その他: タクシー・食事もMFカードで決済</a:t>
            </a:r>
          </a:p>
          <a:p>
            <a:pPr>
              <a:spcAft>
                <a:spcPts val="400"/>
              </a:spcAft>
              <a:defRPr sz="800"/>
            </a:pPr>
          </a:p>
          <a:p>
            <a:pPr>
              <a:spcAft>
                <a:spcPts val="400"/>
              </a:spcAft>
              <a:defRPr sz="2000">
                <a:solidFill>
                  <a:srgbClr val="E2E8F0"/>
                </a:solidFill>
              </a:defRPr>
            </a:pPr>
            <a:r>
              <a:t>立替が発生した場合: /purchase → 「購入済」で申請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10B981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FAQ &amp; 操作早見表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よくある質問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554480"/>
          <a:ext cx="99669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3480"/>
                <a:gridCol w="498348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0B981"/>
                          </a:solidFill>
                        </a:defRPr>
                      </a:pPr>
                      <a:r>
                        <a:t>質問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0B981"/>
                          </a:solidFill>
                        </a:defRPr>
                      </a:pPr>
                      <a:r>
                        <a:t>回答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申請を間違えた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[取消] → 再申請（発注後は管理本部に連絡）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証憑を紛失した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管理本部に相談（カード明細スクショで代替可）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承認が来ない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部門長にSlackで確認（24時間後に自動リマインド）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10万以上を自分で買いたい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不可（管理本部が発注 — 固定資産管理ルール）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カード明細照合って何？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管理本部の月次作業。一般社員は意識不要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未申請利用の連絡が来た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管理本部の照合で検知。/purchase で事後申請を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640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操作早見表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554480"/>
          <a:ext cx="9966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2320"/>
                <a:gridCol w="3322320"/>
                <a:gridCol w="332232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D4FF"/>
                          </a:solidFill>
                        </a:defRPr>
                      </a:pPr>
                      <a:r>
                        <a:t>やりたいこと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D4FF"/>
                          </a:solidFill>
                        </a:defRPr>
                      </a:pPr>
                      <a:r>
                        <a:t>操作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D4FF"/>
                          </a:solidFill>
                        </a:defRPr>
                      </a:pPr>
                      <a:r>
                        <a:t>対象</a:t>
                      </a:r>
                    </a:p>
                  </a:txBody>
                  <a:tcPr>
                    <a:solidFill>
                      <a:srgbClr val="1A1C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購買申請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/purchase → モーダル or Webフォーム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全員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出張申請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/trip → モーダル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全員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自分の状況確認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/purchase/my（マイページ）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全員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承認する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DM or #purchase-request の [承認]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部門長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発注完了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[発注完了] ボタン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申請者/管理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検収完了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[検収完了] ボタン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申請者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証憑提出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スレッドにD&amp;D or マイページ [証憑UP]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申請者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カード明細照合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/admin/card-matching → CSV読込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管理本部</a:t>
                      </a:r>
                    </a:p>
                  </a:txBody>
                  <a:tcPr>
                    <a:solidFill>
                      <a:srgbClr val="0F0F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引落照合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/admin/card-matching → 引落照合タブ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2E8F0"/>
                          </a:solidFill>
                        </a:defRPr>
                      </a:pPr>
                      <a:r>
                        <a:t>管理本部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377440"/>
            <a:ext cx="109728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ご不明点は</a:t>
            </a:r>
            <a:br/>
            <a:r>
              <a:t>管理本部まで</a:t>
            </a:r>
          </a:p>
          <a:p>
            <a:pPr>
              <a:spcBef>
                <a:spcPts val="2000"/>
              </a:spcBef>
              <a:defRPr sz="2200">
                <a:solidFill>
                  <a:srgbClr val="94A3B8"/>
                </a:solidFill>
              </a:defRPr>
            </a:pPr>
            <a:r>
              <a:t>#purchase-ops チャンネル または DM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