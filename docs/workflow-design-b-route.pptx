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377440"/>
            <a:ext cx="109728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統合経費管理 業務フロー設計</a:t>
            </a:r>
          </a:p>
          <a:p>
            <a:pPr>
              <a:spcBef>
                <a:spcPts val="2000"/>
              </a:spcBef>
              <a:defRPr sz="2000">
                <a:solidFill>
                  <a:srgbClr val="94A3B8"/>
                </a:solidFill>
              </a:defRPr>
            </a:pPr>
            <a:r>
              <a:t>購買・出張・立替を一元管理</a:t>
            </a:r>
            <a:br/>
            <a:r>
              <a:t>MF経費 + MF会計Plus 連携設計（B案）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システムの主要コンポーネント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FF"/>
                          </a:solidFill>
                        </a:defRPr>
                      </a:pPr>
                      <a:r>
                        <a:t>コンポーネント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FF"/>
                          </a:solidFill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購買管理システム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申請・承認・照合・仕訳作成のすべての司令塔（自社開発・Vercel）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MFビジネスカード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従業員1人1枚のバーチャルカード。すべての経費決済に使用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MF経費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カード明細の取り込み口。購買管理がAPIで明細を取得（ユーザーは触らない）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MF会計Plus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仕訳の最終出力先。購買管理がAPIで仕訳を直接登録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Slack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通知・承認の窓口（DMボタンで承認、申請完了通知等）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Webアプリ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申請・マイページ・管理画面のメインUI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全体像 — システム構成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全体構成 — データの流れ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Layer 1: ユーザー操作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20040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Webアプリ</a:t>
            </a:r>
            <a:br/>
            <a:r>
              <a:t>申請・マイページ・管理画面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920240"/>
            <a:ext cx="3200400" cy="6400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Slack</a:t>
            </a:r>
            <a:br/>
            <a:r>
              <a:t>承認DMボタン・通知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Layer 2: 購買管理システム（司令塔）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1124712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申請・承認・予測テーブル・照合エンジン・仕訳作成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Layer 3: 外部システム（バックエンド連携のみ）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3474720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MFビジネスカード</a:t>
            </a:r>
            <a:br/>
            <a:r>
              <a:t>各従業員に1枚</a:t>
            </a:r>
            <a:br/>
            <a:r>
              <a:t>すべての決済に使用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754880"/>
            <a:ext cx="3474720" cy="1371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MF経費</a:t>
            </a:r>
            <a:br/>
            <a:r>
              <a:t>カード明細の取り込み口</a:t>
            </a:r>
            <a:br/>
            <a:r>
              <a:t>API で明細取得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754880"/>
            <a:ext cx="3657600" cy="13716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MF会計Plus</a:t>
            </a:r>
            <a:br/>
            <a:r>
              <a:t>仕訳の最終出力先</a:t>
            </a:r>
            <a:br/>
            <a:r>
              <a:t>API で仕訳登録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決済 → MF経費（自動取込）→ 購買管理がAPI取得 → 照合 → MF会計Plus に仕訳登録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7C3AED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3つの経費パターン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経費の3パターン — すべて統一フロー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65760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購買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36576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事前申請して物品・サービスを購入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3657600" cy="137160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Amazon, モノタロウ等</a:t>
            </a:r>
            <a:br/>
            <a:r>
              <a:t>バーチャルカード決済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657600" cy="6400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出張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06040"/>
            <a:ext cx="36576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事前申請して出張に行く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114800"/>
            <a:ext cx="3657600" cy="137160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スマートEX, じゃらん, ANA等</a:t>
            </a:r>
            <a:br/>
            <a:r>
              <a:t>バーチャルカード決済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36576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立替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606040"/>
            <a:ext cx="36576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やむを得ず個人で立替→精算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114800"/>
            <a:ext cx="3657600" cy="137160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現金払い, 個人カード</a:t>
            </a:r>
            <a:br/>
            <a:r>
              <a:t>後日会社が振込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▶ いずれもWebアプリ/Slackで申請 → 部門長承認 → カード決済 → 自動照合 → 仕訳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EC4899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申請フロー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申請フロー — Webアプリ &amp; Slack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申請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45920"/>
            <a:ext cx="7498079" cy="73152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Webアプリ or Slackで申請</a:t>
            </a:r>
            <a:br/>
            <a:r>
              <a:t>(購買/出張/立替を選択)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822960" cy="7315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56032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予測テーブル登録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560320"/>
            <a:ext cx="7498079" cy="73152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申請内容をDBに保存</a:t>
            </a:r>
            <a:br/>
            <a:r>
              <a:t>(従業員ID + 金額 + 日付)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822960" cy="73152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47472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部門長承認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474720"/>
            <a:ext cx="7498079" cy="73152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Slack DMで [承認] [差戻し] ボタン</a:t>
            </a:r>
            <a:br/>
            <a:r>
              <a:t>10秒で完了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82296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38912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申請者通知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389120"/>
            <a:ext cx="7498079" cy="73152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承認完了をSlackで通知</a:t>
            </a:r>
            <a:br/>
            <a:r>
              <a:t>申請者は購入実行へ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82296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30352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予測テーブル状態更新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5303520"/>
            <a:ext cx="7498079" cy="73152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「approved」に変更</a:t>
            </a:r>
            <a:br/>
            <a:r>
              <a:t>カード決済を待つ状態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10B981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カード決済 → 明細取得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決済からMF経費取込まで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200400" cy="9144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従業員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645920"/>
            <a:ext cx="786384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バーチャルカードで決済</a:t>
            </a:r>
            <a:br/>
            <a:r>
              <a:t>(Amazon/スマートEX/じゃらん等)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320040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MFビジネスカード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926080"/>
            <a:ext cx="786384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決済データ自動連携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840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320040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MF経費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4206240"/>
            <a:ext cx="786384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カード明細として取り込み</a:t>
            </a:r>
            <a:br/>
            <a:r>
              <a:t>office_member_id で従業員を自動紐付け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120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3200400" cy="9144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購買管理システム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5486400"/>
            <a:ext cx="786384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fetchCardStatements API で取得</a:t>
            </a:r>
            <a:br/>
            <a:r>
              <a:t>(週次cron + 任意手動実行)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59E0B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照合フロー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照合エンジン — 予測テーブル × カード明細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0292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予測テーブル（申請データ）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5029200" cy="50292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PO-202604-0001 / 田中 / ¥14,000 / 2026-04-15 / スマートEX (出張)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5029200" cy="50292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PO-202604-0002 / 田中 / ¥30,000 / 2026-04-15 / じゃらん (出張)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5029200" cy="50292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PO-202604-0003 / 鈴木 / ¥3,500 / 2026-04-15 / Amazon (購買)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5029200" cy="50292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PO-202604-0004 / 山田 / ¥8,000 / 2026-04-16 / モノタロウ (購買)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3035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MF経費カード明細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50292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EX東海 / ¥14,000 / 2026-04-15 / member:田中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834640"/>
            <a:ext cx="5303520" cy="50292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じゃらんnet / ¥29,800 / 2026-04-15 / member:田中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383280"/>
            <a:ext cx="5303520" cy="50292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Amazon.co.jp / ¥3,500 / 2026-04-15 / member:鈴木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5303520" cy="50292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MonotaRO / ¥8,000 / 2026-04-16 / member:山田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54880"/>
            <a:ext cx="1124712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照合キー: office_member_id (従業員) × 金額 × 日付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照合結果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27432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完全一致</a:t>
            </a:r>
            <a:br/>
            <a:r>
              <a:t>→ 自動仕訳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5943600"/>
            <a:ext cx="27432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差額あり</a:t>
            </a:r>
            <a:br/>
            <a:r>
              <a:t>→ 調整仕訳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5943600"/>
            <a:ext cx="274320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申請なし</a:t>
            </a:r>
            <a:br/>
            <a:r>
              <a:t>→ 未申請利用アラート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5943600"/>
            <a:ext cx="246888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明細なし</a:t>
            </a:r>
            <a:br/>
            <a:r>
              <a:t>→ 督促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仕訳の作成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仕訳作成 — 購買管理システムが直接生成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MF会計Plusの自動仕訳ルールは使わず、購買管理が直接APIで仕訳を作成（B案）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例: 出張交通費の仕訳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18288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Stage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651760"/>
            <a:ext cx="923544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借: 旅費交通費 14,000 / 貸: 未払金:MFカード:未請求 14,000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108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▶ 出張申請承認時に作成（経費認識）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66160"/>
            <a:ext cx="182880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Stage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3566160"/>
            <a:ext cx="923544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借: 未払金:MFカード:未請求 14,000 / 貸: 未払金:MFカード:請求 14,000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023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▶ カード明細とマッチング後に作成（請求確定）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80560"/>
            <a:ext cx="18288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Stage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4480560"/>
            <a:ext cx="923544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借: 未払金:MFカード:請求 14,000 / 貸: 普通預金 14,000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937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▶ 銀行引落時に作成（支払完了）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1A1C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t>摘要は申請データと結合: 「東京→大阪 新幹線のぞみ ¥14,000 申請者:田中 (PO-202604-0001)」</a:t>
            </a:r>
            <a:br/>
            <a:r>
              <a:t>MF会計Plus上で経理が確認しやすい形式に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EC4899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B案の特徴と運用ポイント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B案 (購買管理システムがStage 2を作る) のメリット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自動仕訳ルールの設定が不要 — 経理担当者の負担ゼロ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新規加盟店が出ても自動対応 — 運用保守がほぼ不要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仕訳の摘要・補助科目を自由にカスタマイズ可能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  ▶ 出張申請の詳細（区間・宿泊先等）を摘要に付加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  ▶ 部門・PJ も申請データから自動設定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二重仕訳のリスクなし — 仕訳作成は購買管理だけ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MF経費 → 購買管理 → MF会計Plus の経路が一本化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office_member_id で従業員を確実に特定（card_last4不要）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B案で必要な事前設定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MFビジネスカード × MF経費 の自動連携設定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  ▶ 各従業員のバーチャルカードをMF経費アカウントに紐付け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  ▶ 1人1枚のため設定はシンプル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MF会計Plusの自動仕訳ルールは「使わない（OFF設定）」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  ▶ 二重仕訳防止のため必須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MF経費APIアクセストークンの発行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MF会計Plus OAuth認証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従業員マスタとMF経費 office_member の紐付け確認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EF4444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例外フロー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想定される例外と対応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FF"/>
                          </a:solidFill>
                        </a:defRPr>
                      </a:pPr>
                      <a:r>
                        <a:t>パターン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FF"/>
                          </a:solidFill>
                        </a:defRPr>
                      </a:pPr>
                      <a:r>
                        <a:t>発生例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FF"/>
                          </a:solidFill>
                        </a:defRPr>
                      </a:pPr>
                      <a:r>
                        <a:t>対応方針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申請なしの利用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出張中に急遽タクシー利用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管理者にアラート → 事後申請を促す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概算と実額の差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新幹線予約変更で金額変更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差額±5%以内は自動承認、超える場合は管理者確認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申請したのに明細なし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予約後にキャンセル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1週間後に申請者に確認DM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重複決済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同日同額の購買と出張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office_member_id + 申請内容で個別マッチング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返金・キャンセル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出張キャンセルでカード返金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負の値の明細として取り込み、Stage 1の取消仕訳を作成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不明な明細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従業員特定不可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管理者ダッシュボードに「未照合」として表示、手動対応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10B981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役割分担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関係者ごとの作業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FF"/>
                          </a:solidFill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FF"/>
                          </a:solidFill>
                        </a:defRPr>
                      </a:pPr>
                      <a:r>
                        <a:t>やること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FF"/>
                          </a:solidFill>
                        </a:defRPr>
                      </a:pPr>
                      <a:r>
                        <a:t>やらないこと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申請者(従業員)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Webアプリ/Slackで申請 → カード決済 → 検収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MF経費・MF会計Plusに触る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承認者(部門長)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Slack DMで承認/差戻し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個別の照合・仕訳確認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管理本部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未照合明細の確認、例外対応、月次締め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通常の仕訳作成・自動仕訳ルール管理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購買管理システム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申請受付・予測登録・照合・仕訳自動生成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MFビジネスカード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決済・明細をMF経費に連携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MF経費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カード明細の保管・API提供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申請承認・仕訳作成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MF会計Plus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仕訳の最終保管・経理出力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</a:defRPr>
                      </a:pPr>
                      <a:r>
                        <a:t>自動仕訳ルール（OFF）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59E0B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今後の検証ポイント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実装前に確認すべきこと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✓ MF経費APIで office_member_id が取得可能（実機確認済み）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□ MFビジネスカード → MF経費 の自動連携設定方法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  ▶ 1人1枚の紐付けが正しく動くか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□ カード明細の反映タイミング（即時 or 翌営業日）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□ 同日同額の複数決済の区別方法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□ 返金・キャンセル時の明細形式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□ MF会計Plus の自動仕訳ルールをOFFにできるか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□ 二重計上防止のための一意キー設計</a:t>
            </a:r>
          </a:p>
          <a:p>
            <a:pPr>
              <a:spcAft>
                <a:spcPts val="600"/>
              </a:spcAft>
              <a:defRPr sz="2200">
                <a:solidFill>
                  <a:srgbClr val="E2E8F0"/>
                </a:solidFill>
              </a:defRPr>
            </a:pPr>
            <a:r>
              <a:t>□ 立替精算のフロー（MF経費を通すか直接仕訳か）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7C3AED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段階的導入計画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Phase別ロードマップ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64592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645920"/>
            <a:ext cx="22860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基盤構築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645920"/>
            <a:ext cx="6949440" cy="64008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t>従業員マスタ拡張・予測テーブル統一・出張申請Web化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1645920" cy="6400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423160"/>
            <a:ext cx="22860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MF経費連携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423160"/>
            <a:ext cx="6949440" cy="64008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t>fetchCardStatements改修・office_member_id ベース照合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1645920" cy="6400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200400"/>
            <a:ext cx="22860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出張承認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200400"/>
            <a:ext cx="6949440" cy="64008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t>/trip 承認フロー追加・部門長DMボタン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77640"/>
            <a:ext cx="164592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977640"/>
            <a:ext cx="22860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立替Web化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977640"/>
            <a:ext cx="6949440" cy="64008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t>/expense/new 新規・OCR連携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54880"/>
            <a:ext cx="164592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754880"/>
            <a:ext cx="22860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Stage 2自動化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754880"/>
            <a:ext cx="6949440" cy="64008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t>購買管理がMF会計Plus APIでStage 2仕訳作成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32120"/>
            <a:ext cx="164592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532120"/>
            <a:ext cx="22860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本番展開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5532120"/>
            <a:ext cx="6949440" cy="640080"/>
          </a:xfrm>
          <a:prstGeom prst="roundRect">
            <a:avLst/>
          </a:prstGeom>
          <a:solidFill>
            <a:srgbClr val="1A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2E8F0"/>
                </a:solidFill>
              </a:defRPr>
            </a:pPr>
            <a:r>
              <a:t>管理本部→他部門の段階展開・運用マニュアル整備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377440"/>
            <a:ext cx="109728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ご検討よろしくお願いします</a:t>
            </a:r>
          </a:p>
          <a:p>
            <a:pPr>
              <a:spcBef>
                <a:spcPts val="2000"/>
              </a:spcBef>
              <a:defRPr sz="2000">
                <a:solidFill>
                  <a:srgbClr val="94A3B8"/>
                </a:solidFill>
              </a:defRPr>
            </a:pPr>
            <a:r>
              <a:t>本資料は B案（購買管理システム主導）の業務フロー設計</a:t>
            </a:r>
            <a:br/>
            <a:r>
              <a:t>実装前に運用詳細・例外パターンをすり合わせましょう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